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0" y="731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latin typeface="Segoe UI Emoji"/>
              </a:rPr>
              <a:t>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0F0FF"/>
                </a:solidFill>
                <a:latin typeface="Calibri"/>
              </a:rPr>
              <a:t>Secure Cloud Storage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C084FC"/>
                </a:solidFill>
                <a:latin typeface="Calibri"/>
              </a:rPr>
              <a:t>AES Encryption  •  Integrity Verification  •  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520440"/>
            <a:ext cx="210312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0F0FF"/>
                </a:solidFill>
                <a:latin typeface="Calibri"/>
              </a:rPr>
              <a:t>Ali Asjad Awan — FA23-BCS-028</a:t>
            </a:r>
          </a:p>
          <a:p>
            <a:pPr algn="ctr"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F0F0FF"/>
                </a:solidFill>
                <a:latin typeface="Calibri"/>
              </a:rPr>
              <a:t>Muhammad Sohaib Liaqat — FA23-BCS-130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0A4C0"/>
                </a:solidFill>
                <a:latin typeface="Calibri"/>
              </a:rPr>
              <a:t>Department of Computer Science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0A4C0"/>
                </a:solidFill>
                <a:latin typeface="Calibri"/>
              </a:rPr>
              <a:t>COMSATS University Islamabad  •  Spring 2026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Problem Statement &amp; Objectives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Literature Review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System Architecture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Methodology &amp; Security Layers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173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Implementation Deep Dive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Encryption Workflow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Authentication &amp; Access Control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Testing &amp; Security Analysis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3383280" cy="18288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$4.88M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Average cost of a data breach in 2024
(IBM Security Report)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91640"/>
            <a:ext cx="3383280" cy="18288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Plaintext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Most cloud providers store data with
server-side keys they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691640"/>
            <a:ext cx="3383280" cy="18288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No Integrity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Files can be tampered with during
storage or transit undetected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84FC"/>
                </a:solidFill>
                <a:latin typeface="Calibri"/>
              </a:rPr>
              <a:t>→  We need client-controlled encryption + integrity verification + access control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Implement </a:t>
            </a:r>
            <a:r>
              <a:rPr sz="1400" b="1">
                <a:solidFill>
                  <a:srgbClr val="C084FC"/>
                </a:solidFill>
                <a:latin typeface="Calibri"/>
              </a:rPr>
              <a:t>AES encryption</a:t>
            </a:r>
            <a:r>
              <a:rPr sz="1400">
                <a:solidFill>
                  <a:srgbClr val="A0A4C0"/>
                </a:solidFill>
                <a:latin typeface="Calibri"/>
              </a:rPr>
              <a:t> (via Fernet) for files before cloud upload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Implement </a:t>
            </a:r>
            <a:r>
              <a:rPr sz="1400" b="1">
                <a:solidFill>
                  <a:srgbClr val="C084FC"/>
                </a:solidFill>
                <a:latin typeface="Calibri"/>
              </a:rPr>
              <a:t>SHA-256 integrity</a:t>
            </a:r>
            <a:r>
              <a:rPr sz="1400">
                <a:solidFill>
                  <a:srgbClr val="A0A4C0"/>
                </a:solidFill>
                <a:latin typeface="Calibri"/>
              </a:rPr>
              <a:t> verification on every file download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Build </a:t>
            </a:r>
            <a:r>
              <a:rPr sz="1400" b="1">
                <a:solidFill>
                  <a:srgbClr val="C084FC"/>
                </a:solidFill>
                <a:latin typeface="Calibri"/>
              </a:rPr>
              <a:t>secure authentication</a:t>
            </a:r>
            <a:r>
              <a:rPr sz="1400">
                <a:solidFill>
                  <a:srgbClr val="A0A4C0"/>
                </a:solidFill>
                <a:latin typeface="Calibri"/>
              </a:rPr>
              <a:t> with Bcrypt, rate limiting, and account lockout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Implement </a:t>
            </a:r>
            <a:r>
              <a:rPr sz="1400" b="1">
                <a:solidFill>
                  <a:srgbClr val="C084FC"/>
                </a:solidFill>
                <a:latin typeface="Calibri"/>
              </a:rPr>
              <a:t>role-based access control</a:t>
            </a:r>
            <a:r>
              <a:rPr sz="1400">
                <a:solidFill>
                  <a:srgbClr val="A0A4C0"/>
                </a:solidFill>
                <a:latin typeface="Calibri"/>
              </a:rPr>
              <a:t> (RBAC) for user authorization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Create </a:t>
            </a:r>
            <a:r>
              <a:rPr sz="1400" b="1">
                <a:solidFill>
                  <a:srgbClr val="C084FC"/>
                </a:solidFill>
                <a:latin typeface="Calibri"/>
              </a:rPr>
              <a:t>HMAC-signed tokens</a:t>
            </a:r>
            <a:r>
              <a:rPr sz="1400">
                <a:solidFill>
                  <a:srgbClr val="A0A4C0"/>
                </a:solidFill>
                <a:latin typeface="Calibri"/>
              </a:rPr>
              <a:t> for time-limited secure download links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Implement </a:t>
            </a:r>
            <a:r>
              <a:rPr sz="1400" b="1">
                <a:solidFill>
                  <a:srgbClr val="C084FC"/>
                </a:solidFill>
                <a:latin typeface="Calibri"/>
              </a:rPr>
              <a:t>comprehensive audit logging</a:t>
            </a:r>
            <a:r>
              <a:rPr sz="1400">
                <a:solidFill>
                  <a:srgbClr val="A0A4C0"/>
                </a:solidFill>
                <a:latin typeface="Calibri"/>
              </a:rPr>
              <a:t> for security monitoring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▸  </a:t>
            </a:r>
            <a:r>
              <a:rPr sz="1400">
                <a:solidFill>
                  <a:srgbClr val="A0A4C0"/>
                </a:solidFill>
                <a:latin typeface="Calibri"/>
              </a:rPr>
              <a:t>Deploy on </a:t>
            </a:r>
            <a:r>
              <a:rPr sz="1400" b="1">
                <a:solidFill>
                  <a:srgbClr val="C084FC"/>
                </a:solidFill>
                <a:latin typeface="Calibri"/>
              </a:rPr>
              <a:t>production cloud</a:t>
            </a:r>
            <a:r>
              <a:rPr sz="1400">
                <a:solidFill>
                  <a:srgbClr val="A0A4C0"/>
                </a:solidFill>
                <a:latin typeface="Calibri"/>
              </a:rPr>
              <a:t> infrastructure with HTTPS enforcement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Literature Review —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00200"/>
          <a:ext cx="10058400" cy="384048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2560320"/>
                <a:gridCol w="1371600"/>
                <a:gridCol w="1463040"/>
                <a:gridCol w="1371600"/>
                <a:gridCol w="1463040"/>
                <a:gridCol w="1828800"/>
              </a:tblGrid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Tresorit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Boxcryptor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SpiderOak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Nextcloud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Our System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Client-Side Encryption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Plugin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Integrity Verification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 SHA-256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Time-Limited Links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 HMAC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RBAC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Audit Logging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CSRF Protection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23847" y="1874520"/>
            <a:ext cx="1463040" cy="10058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3847" y="19202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🌐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Client
Browser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32607" y="2240280"/>
            <a:ext cx="36576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44087" y="1874520"/>
            <a:ext cx="1463040" cy="10058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166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4087" y="19202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🔒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HTTPS
TLS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52847" y="2240280"/>
            <a:ext cx="36576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64327" y="1874520"/>
            <a:ext cx="1463040" cy="10058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4327" y="19202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⚙️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Flask
Server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73087" y="2240280"/>
            <a:ext cx="36576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84567" y="1874520"/>
            <a:ext cx="1463040" cy="10058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7E2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4567" y="19202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🔐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Fernet
Engine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93327" y="2240280"/>
            <a:ext cx="36576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04807" y="1874520"/>
            <a:ext cx="1463040" cy="10058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4807" y="19202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☁️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Cloudinary
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64327" y="3337560"/>
            <a:ext cx="1463040" cy="10058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4327" y="338328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⚙️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Flask
Server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73087" y="3703320"/>
            <a:ext cx="36576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84567" y="3337560"/>
            <a:ext cx="1463040" cy="10058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4567" y="338328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🗄️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PostgreSQL
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C084FC"/>
                </a:solidFill>
                <a:latin typeface="Calibri"/>
              </a:rPr>
              <a:t>Files are encrypted in memory before leaving the server — Cloudinary only stores encrypted blobs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7 Security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563624"/>
            <a:ext cx="347472" cy="347472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63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F0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508760"/>
            <a:ext cx="10149840" cy="4572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1508760"/>
            <a:ext cx="50800" cy="457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F"/>
                </a:solidFill>
                <a:latin typeface="Calibri"/>
              </a:rPr>
              <a:t>Transport:  </a:t>
            </a:r>
            <a:r>
              <a:rPr sz="1200">
                <a:solidFill>
                  <a:srgbClr val="A0A4C0"/>
                </a:solidFill>
                <a:latin typeface="Calibri"/>
              </a:rPr>
              <a:t>HTTPS enforcement via HSTS (31,536,000s max-age)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167128"/>
            <a:ext cx="347472" cy="347472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671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F0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112264"/>
            <a:ext cx="10149840" cy="4572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112264"/>
            <a:ext cx="50800" cy="457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15798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F"/>
                </a:solidFill>
                <a:latin typeface="Calibri"/>
              </a:rPr>
              <a:t>Authentication:  </a:t>
            </a:r>
            <a:r>
              <a:rPr sz="1200">
                <a:solidFill>
                  <a:srgbClr val="A0A4C0"/>
                </a:solidFill>
                <a:latin typeface="Calibri"/>
              </a:rPr>
              <a:t>Bcrypt hashing + secure session cookies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770632"/>
            <a:ext cx="347472" cy="347472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70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F0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715768"/>
            <a:ext cx="10149840" cy="4572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34440" y="2715768"/>
            <a:ext cx="50800" cy="457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27614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F"/>
                </a:solidFill>
                <a:latin typeface="Calibri"/>
              </a:rPr>
              <a:t>Authorization:  </a:t>
            </a:r>
            <a:r>
              <a:rPr sz="1200">
                <a:solidFill>
                  <a:srgbClr val="A0A4C0"/>
                </a:solidFill>
                <a:latin typeface="Calibri"/>
              </a:rPr>
              <a:t>RBAC with user/admin roles + ownership checks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374136"/>
            <a:ext cx="347472" cy="347472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74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F0FF"/>
                </a:solidFill>
                <a:latin typeface="Calibr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3319272"/>
            <a:ext cx="10149840" cy="4572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34440" y="3319272"/>
            <a:ext cx="50800" cy="457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3649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F"/>
                </a:solidFill>
                <a:latin typeface="Calibri"/>
              </a:rPr>
              <a:t>Input Validation:  </a:t>
            </a:r>
            <a:r>
              <a:rPr sz="1200">
                <a:solidFill>
                  <a:srgbClr val="A0A4C0"/>
                </a:solidFill>
                <a:latin typeface="Calibri"/>
              </a:rPr>
              <a:t>CSRF tokens + magic-byte file type detection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3977640"/>
            <a:ext cx="347472" cy="347472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77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F0FF"/>
                </a:solidFill>
                <a:latin typeface="Calibri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3922776"/>
            <a:ext cx="10149840" cy="4572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34440" y="3922776"/>
            <a:ext cx="50800" cy="457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3968496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F"/>
                </a:solidFill>
                <a:latin typeface="Calibri"/>
              </a:rPr>
              <a:t>Encryption:  </a:t>
            </a:r>
            <a:r>
              <a:rPr sz="1200">
                <a:solidFill>
                  <a:srgbClr val="A0A4C0"/>
                </a:solidFill>
                <a:latin typeface="Calibri"/>
              </a:rPr>
              <a:t>Fernet (AES-128-CBC + HMAC-SHA256) before upload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581144"/>
            <a:ext cx="347472" cy="347472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5811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F0FF"/>
                </a:solidFill>
                <a:latin typeface="Calibri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4440" y="4526280"/>
            <a:ext cx="10149840" cy="4572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34440" y="4526280"/>
            <a:ext cx="50800" cy="457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F"/>
                </a:solidFill>
                <a:latin typeface="Calibri"/>
              </a:rPr>
              <a:t>Integrity:  </a:t>
            </a:r>
            <a:r>
              <a:rPr sz="1200">
                <a:solidFill>
                  <a:srgbClr val="A0A4C0"/>
                </a:solidFill>
                <a:latin typeface="Calibri"/>
              </a:rPr>
              <a:t>SHA-256 hash verification on every download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" y="5184648"/>
            <a:ext cx="347472" cy="347472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1846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F0FF"/>
                </a:solidFill>
                <a:latin typeface="Calibri"/>
              </a:rP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5129784"/>
            <a:ext cx="10149840" cy="4572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34440" y="5129784"/>
            <a:ext cx="50800" cy="457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517550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F"/>
                </a:solidFill>
                <a:latin typeface="Calibri"/>
              </a:rPr>
              <a:t>Monitoring:  </a:t>
            </a:r>
            <a:r>
              <a:rPr sz="1200">
                <a:solidFill>
                  <a:srgbClr val="A0A4C0"/>
                </a:solidFill>
                <a:latin typeface="Calibri"/>
              </a:rPr>
              <a:t>Comprehensive audit logging with timestamps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15087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Python + Flask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Backend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15087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Fernet / AES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File encryption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468880" cy="15087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🗄️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554480"/>
            <a:ext cx="2468880" cy="15087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☁️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Cloudinary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23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Cloud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91840"/>
            <a:ext cx="2468880" cy="15087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#️⃣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SHA-256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Integrity hashing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291840"/>
            <a:ext cx="2468880" cy="15087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Bcrypt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1605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Password hashing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291840"/>
            <a:ext cx="2468880" cy="15087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🛡️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Flask-Talisman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CSP + HSTS headers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291840"/>
            <a:ext cx="2468880" cy="15087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Render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1605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Cloud deployment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Encryption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84FC"/>
                </a:solidFill>
                <a:latin typeface="Calibri"/>
              </a:rPr>
              <a:t>📤  Upload (Encrypt)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>User selects file for upload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  <a:r>
              <a:rPr sz="1300" b="1">
                <a:solidFill>
                  <a:srgbClr val="C084FC"/>
                </a:solidFill>
                <a:latin typeface="Calibri"/>
              </a:rPr>
              <a:t>Magic-byte</a:t>
            </a:r>
            <a:r>
              <a:rPr sz="1300">
                <a:solidFill>
                  <a:srgbClr val="A0A4C0"/>
                </a:solidFill>
                <a:latin typeface="Calibri"/>
              </a:rPr>
              <a:t> MIME type validation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  <a:r>
              <a:rPr sz="1300" b="1">
                <a:solidFill>
                  <a:srgbClr val="C084FC"/>
                </a:solidFill>
                <a:latin typeface="Calibri"/>
              </a:rPr>
              <a:t>SHA-256</a:t>
            </a:r>
            <a:r>
              <a:rPr sz="1300">
                <a:solidFill>
                  <a:srgbClr val="A0A4C0"/>
                </a:solidFill>
                <a:latin typeface="Calibri"/>
              </a:rPr>
              <a:t> hash computed and stored in DB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  <a:r>
              <a:rPr sz="1300" b="1">
                <a:solidFill>
                  <a:srgbClr val="C084FC"/>
                </a:solidFill>
                <a:latin typeface="Calibri"/>
              </a:rPr>
              <a:t>Fernet.encrypt()</a:t>
            </a:r>
            <a:r>
              <a:rPr sz="1300">
                <a:solidFill>
                  <a:srgbClr val="A0A4C0"/>
                </a:solidFill>
                <a:latin typeface="Calibri"/>
              </a:rPr>
              <a:t> — AES-128-CBC + HMAC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>Encrypted blob uploaded to </a:t>
            </a:r>
            <a:r>
              <a:rPr sz="1300" b="1">
                <a:solidFill>
                  <a:srgbClr val="C084FC"/>
                </a:solidFill>
                <a:latin typeface="Calibri"/>
              </a:rPr>
              <a:t>Cloudinary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>Metadata persisted in </a:t>
            </a:r>
            <a:r>
              <a:rPr sz="1300" b="1">
                <a:solidFill>
                  <a:srgbClr val="C084FC"/>
                </a:solidFill>
                <a:latin typeface="Calibri"/>
              </a:rPr>
              <a:t>PostgreSQL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84FC"/>
                </a:solidFill>
                <a:latin typeface="Calibri"/>
              </a:rPr>
              <a:t>📥  Download (Decrypt)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745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  <a:r>
              <a:rPr sz="1300" b="1">
                <a:solidFill>
                  <a:srgbClr val="C084FC"/>
                </a:solidFill>
                <a:latin typeface="Calibri"/>
              </a:rPr>
              <a:t>HMAC token</a:t>
            </a:r>
            <a:r>
              <a:rPr sz="1300">
                <a:solidFill>
                  <a:srgbClr val="A0A4C0"/>
                </a:solidFill>
                <a:latin typeface="Calibri"/>
              </a:rPr>
              <a:t> generated with 5-min expiry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>Token </a:t>
            </a:r>
            <a:r>
              <a:rPr sz="1300" b="1">
                <a:solidFill>
                  <a:srgbClr val="C084FC"/>
                </a:solidFill>
                <a:latin typeface="Calibri"/>
              </a:rPr>
              <a:t>signature + expiry</a:t>
            </a:r>
            <a:r>
              <a:rPr sz="1300">
                <a:solidFill>
                  <a:srgbClr val="A0A4C0"/>
                </a:solidFill>
                <a:latin typeface="Calibri"/>
              </a:rPr>
              <a:t> verified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  <a:r>
              <a:rPr sz="1300" b="1">
                <a:solidFill>
                  <a:srgbClr val="C084FC"/>
                </a:solidFill>
                <a:latin typeface="Calibri"/>
              </a:rPr>
              <a:t>Ownership / share</a:t>
            </a:r>
            <a:r>
              <a:rPr sz="1300">
                <a:solidFill>
                  <a:srgbClr val="A0A4C0"/>
                </a:solidFill>
                <a:latin typeface="Calibri"/>
              </a:rPr>
              <a:t> permission check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>Encrypted blob fetched from </a:t>
            </a:r>
            <a:r>
              <a:rPr sz="1300" b="1">
                <a:solidFill>
                  <a:srgbClr val="C084FC"/>
                </a:solidFill>
                <a:latin typeface="Calibri"/>
              </a:rPr>
              <a:t>Cloudinary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  <a:r>
              <a:rPr sz="1300" b="1">
                <a:solidFill>
                  <a:srgbClr val="C084FC"/>
                </a:solidFill>
                <a:latin typeface="Calibri"/>
              </a:rPr>
              <a:t>Fernet.decrypt()</a:t>
            </a:r>
            <a:r>
              <a:rPr sz="1300">
                <a:solidFill>
                  <a:srgbClr val="A0A4C0"/>
                </a:solidFill>
                <a:latin typeface="Calibri"/>
              </a:rPr>
              <a:t> — verify HMAC tag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A855F7"/>
                </a:solidFill>
                <a:latin typeface="Calibri"/>
              </a:rPr>
              <a:t>▸  </a:t>
            </a:r>
            <a:r>
              <a:rPr sz="1300">
                <a:solidFill>
                  <a:srgbClr val="A0A4C0"/>
                </a:solidFill>
                <a:latin typeface="Calibri"/>
              </a:rPr>
              <a:t/>
            </a:r>
            <a:r>
              <a:rPr sz="1300" b="1">
                <a:solidFill>
                  <a:srgbClr val="C084FC"/>
                </a:solidFill>
                <a:latin typeface="Calibri"/>
              </a:rPr>
              <a:t>SHA-256</a:t>
            </a:r>
            <a:r>
              <a:rPr sz="1300">
                <a:solidFill>
                  <a:srgbClr val="A0A4C0"/>
                </a:solidFill>
                <a:latin typeface="Calibri"/>
              </a:rPr>
              <a:t> hash compared → serve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17320"/>
            <a:ext cx="25400" cy="4572000"/>
          </a:xfrm>
          <a:prstGeom prst="rect">
            <a:avLst/>
          </a:prstGeom>
          <a:solidFill>
            <a:srgbClr val="2A2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Encryption — Code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72000"/>
          </a:xfrm>
          <a:prstGeom prst="roundRect">
            <a:avLst/>
          </a:prstGeom>
          <a:solidFill>
            <a:srgbClr val="050715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0E0C0"/>
                </a:solidFill>
                <a:latin typeface="Consolas"/>
              </a:rPr>
              <a:t># Fernet encryption (AES-128-CBC + HMAC-SHA256)
from cryptography.fernet import Fernet
import hashlib
encryption_key = os.getenv("FERNET_KEY").encode()
cipher = Fernet(encryption_key)
# ── UPLOAD: Encrypt before cloud storage ──
data = file.read()
file_hash = hashlib.sha256(data).hexdigest()      # Integrity hash
encrypted_data = cipher.encrypt(data)              # AES encrypt
cloudinary.uploader.upload(
    BytesIO(encrypted_data), resource_type='raw'
)
# ── DOWNLOAD: Decrypt and verify integrity ──
encrypted_data = requests.get(file.storage_url).content
decrypted = cipher.decrypt(encrypted_data)         # AES decrypt + HMAC verify
current_hash = hashlib.sha256(decrypted).hexdigest()
if current_hash != file.file_hash:                 # Integrity check
    return "File integrity compromised!" 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Authentication &amp;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120640" cy="438912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84FC"/>
                </a:solidFill>
                <a:latin typeface="Calibri"/>
              </a:rPr>
              <a:t>🔑 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Bcrypt</a:t>
            </a:r>
            <a:r>
              <a:rPr sz="1200">
                <a:solidFill>
                  <a:srgbClr val="A0A4C0"/>
                </a:solidFill>
                <a:latin typeface="Calibri"/>
              </a:rPr>
              <a:t> password hashing with auto-generated salt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Rate limiting:</a:t>
            </a:r>
            <a:r>
              <a:rPr sz="1200">
                <a:solidFill>
                  <a:srgbClr val="A0A4C0"/>
                </a:solidFill>
                <a:latin typeface="Calibri"/>
              </a:rPr>
              <a:t> 5 requests/min on login endpoint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Account lockout</a:t>
            </a:r>
            <a:r>
              <a:rPr sz="1200">
                <a:solidFill>
                  <a:srgbClr val="A0A4C0"/>
                </a:solidFill>
                <a:latin typeface="Calibri"/>
              </a:rPr>
              <a:t> after 5 consecutive failed attempts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Password policy:</a:t>
            </a:r>
            <a:r>
              <a:rPr sz="1200">
                <a:solidFill>
                  <a:srgbClr val="A0A4C0"/>
                </a:solidFill>
                <a:latin typeface="Calibri"/>
              </a:rPr>
              <a:t> 8+ chars, upper, lower, digit, special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Secure cookies:</a:t>
            </a:r>
            <a:r>
              <a:rPr sz="1200">
                <a:solidFill>
                  <a:srgbClr val="A0A4C0"/>
                </a:solidFill>
                <a:latin typeface="Calibri"/>
              </a:rPr>
              <a:t> HttpOnly + Secure + SameSite=Lax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120640" cy="438912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84FC"/>
                </a:solidFill>
                <a:latin typeface="Calibri"/>
              </a:rPr>
              <a:t>👥  Authorization (RBAC)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User</a:t>
            </a:r>
            <a:r>
              <a:rPr sz="1200">
                <a:solidFill>
                  <a:srgbClr val="A0A4C0"/>
                </a:solidFill>
                <a:latin typeface="Calibri"/>
              </a:rPr>
              <a:t> role — Manage own files, share, analytics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Admin</a:t>
            </a:r>
            <a:r>
              <a:rPr sz="1200">
                <a:solidFill>
                  <a:srgbClr val="A0A4C0"/>
                </a:solidFill>
                <a:latin typeface="Calibri"/>
              </a:rPr>
              <a:t> role — View all files, users, audit logs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Ownership checks</a:t>
            </a:r>
            <a:r>
              <a:rPr sz="1200">
                <a:solidFill>
                  <a:srgbClr val="A0A4C0"/>
                </a:solidFill>
                <a:latin typeface="Calibri"/>
              </a:rPr>
              <a:t> on every file operation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Share permissions:</a:t>
            </a:r>
            <a:r>
              <a:rPr sz="1200">
                <a:solidFill>
                  <a:srgbClr val="A0A4C0"/>
                </a:solidFill>
                <a:latin typeface="Calibri"/>
              </a:rPr>
              <a:t> view / download with 7-day expiry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Instant revocation</a:t>
            </a:r>
            <a:r>
              <a:rPr sz="1200">
                <a:solidFill>
                  <a:srgbClr val="A0A4C0"/>
                </a:solidFill>
                <a:latin typeface="Calibri"/>
              </a:rPr>
              <a:t> terminates access immediately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File Sharing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86787" y="1600200"/>
            <a:ext cx="1645920" cy="8686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86787" y="1645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👤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Owner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60139" y="1892808"/>
            <a:ext cx="36576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44187" y="1600200"/>
            <a:ext cx="1645920" cy="8686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4187" y="1645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📝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Share Form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17539" y="1892808"/>
            <a:ext cx="36576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587" y="1600200"/>
            <a:ext cx="1645920" cy="8686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1587" y="1645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🔔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Notification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74939" y="1892808"/>
            <a:ext cx="36576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58987" y="1600200"/>
            <a:ext cx="1645920" cy="8686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8987" y="1645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Segoe UI Emoji"/>
              </a:rPr>
              <a:t>👤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0F0FF"/>
                </a:solidFill>
                <a:latin typeface="Calibri"/>
              </a:rPr>
              <a:t>Recipient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120640" cy="33832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84FC"/>
                </a:solidFill>
                <a:latin typeface="Calibri"/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View / Download permission levels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7-day automatic share expiry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Download counter tracking per share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Real-time notifications for recipients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Idempotent share creation/updates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880360"/>
            <a:ext cx="5120640" cy="33832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84FC"/>
                </a:solidFill>
                <a:latin typeface="Calibri"/>
              </a:rPr>
              <a:t>Security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832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Ownership verification before sharing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Cannot share files with yourself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Unique cryptographic share tokens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Instant revocation of access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Expired shares automatically blocked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Security Hardening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CSRF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Flask-WTF unique tokens per
session, verified server-side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Content Security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Restricts scripts/styles to
trusted origins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HSTS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Forces HTTPS with 1-year
max-age directive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Malware Blocking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Magic-byte analysis + PE/ELF
signature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⏱️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Token Expiry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348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HMAC-signed download tokens
expire after 5 minutes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56616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Audit 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348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All actions logged with user
ID and timestamp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Database Design — 5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1993392" cy="18288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1627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id, username, email, password
(Bcrypt), role, failed_attempts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1691640"/>
            <a:ext cx="1993392" cy="18288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24028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560320"/>
            <a:ext cx="1627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id, filename, encrypted_name,
cloud_url, owner_id, file_hash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21224" y="1691640"/>
            <a:ext cx="1993392" cy="18288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224028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SharedFile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2560320"/>
            <a:ext cx="1627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file_id, shared_by, shared_with,
permission, expiry, downloads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3216" y="1691640"/>
            <a:ext cx="1993392" cy="18288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24028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2560320"/>
            <a:ext cx="1627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id, user_id, action, timestamp
— records all security 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1691640"/>
            <a:ext cx="1993392" cy="182880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48088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088" y="224028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Notification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560320"/>
            <a:ext cx="1627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user_id, message, read,
created_at, file_id, share_id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Application — Key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Landing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Modern glassmorphism UI with
feature showcase &amp; CTA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Login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CSRF-protected login with
forgot password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Quick actions, security
features, password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Upload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File upload with magic-byte
type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File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348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Files list with download,
share, and delete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566160"/>
            <a:ext cx="3383280" cy="17830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348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Real-time share alerts with
mark-as-read feature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Security Testing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08760"/>
          <a:ext cx="10058400" cy="484632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2011680"/>
                <a:gridCol w="3200400"/>
                <a:gridCol w="3200400"/>
                <a:gridCol w="1645920"/>
              </a:tblGrid>
              <a:tr h="44057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Attack Type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CSRF Attack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POST without token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400 Rejected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Brute Force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10 rapid login attempts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Rate limited + locked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IDOR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Access other user's file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403 Forbidden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Token Replay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Reuse expired token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Link expired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Token Forgery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Modified HMAC signature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Invalid link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Malware Upload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Upload .exe (MZ header)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SQL Injection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SQL in form fields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Parameterized query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XSS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Script tag in input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HTML escaped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Cookie Hijack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JS cookie access attempt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HttpOnly blocked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Downgrade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HTTP access attempt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HSTS redirect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 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Performance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874520"/>
            <a:ext cx="2468880" cy="12801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84FC"/>
                </a:solidFill>
                <a:latin typeface="Calibri"/>
              </a:rPr>
              <a:t>&lt;5ms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A4C0"/>
                </a:solidFill>
                <a:latin typeface="Calibri"/>
              </a:rPr>
              <a:t>100KB Encryption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74520"/>
            <a:ext cx="2468880" cy="12801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84FC"/>
                </a:solidFill>
                <a:latin typeface="Calibri"/>
              </a:rPr>
              <a:t>~12ms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A4C0"/>
                </a:solidFill>
                <a:latin typeface="Calibri"/>
              </a:rPr>
              <a:t>1MB Encryption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20"/>
            <a:ext cx="2468880" cy="12801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84FC"/>
                </a:solidFill>
                <a:latin typeface="Calibri"/>
              </a:rPr>
              <a:t>~45ms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A4C0"/>
                </a:solidFill>
                <a:latin typeface="Calibri"/>
              </a:rPr>
              <a:t>5MB Encryption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74520"/>
            <a:ext cx="2468880" cy="128016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84FC"/>
                </a:solidFill>
                <a:latin typeface="Calibri"/>
              </a:rPr>
              <a:t>~90ms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A4C0"/>
                </a:solidFill>
                <a:latin typeface="Calibri"/>
              </a:rPr>
              <a:t>10MB 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C084FC"/>
                </a:solidFill>
                <a:latin typeface="Calibri"/>
              </a:rPr>
              <a:t>Fernet encryption adds negligible latency — network upload/download is the dominant factor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011680" y="4206240"/>
          <a:ext cx="8229600" cy="210312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828800"/>
                <a:gridCol w="2103120"/>
                <a:gridCol w="2103120"/>
                <a:gridCol w="219456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File Size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Encryption Time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Decryption Time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Total Upload Time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100 KB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&lt; 5 ms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&lt; 5 ms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~1.2 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1 MB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~12 ms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~10 ms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~2.5 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5 MB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~45 ms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~40 ms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~5.8 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10 MB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~90 ms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~85 ms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~9.2 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CIA Triad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74520"/>
            <a:ext cx="3383280" cy="23774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Confidentiality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Fernet AES-128-CBC encryption before
cloud upload. Bcrypt password hashing.
HttpOnly + Secure session cookies.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74520"/>
            <a:ext cx="3383280" cy="23774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SHA-256 hash verification on every
download. Fernet HMAC authentication.
CSRF token validation on POST.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874520"/>
            <a:ext cx="3383280" cy="237744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A855F7"/>
                </a:solidFill>
                <a:latin typeface="Segoe UI Emoji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F0FF"/>
                </a:solidFill>
                <a:latin typeface="Calibri"/>
              </a:rPr>
              <a:t>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432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0A4C0"/>
                </a:solidFill>
                <a:latin typeface="Calibri"/>
              </a:rPr>
              <a:t>Managed cloud deployment on Render.
Rate limiting prevents DoS attacks.
Automatic restart on failure.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OWASP Top 10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54480"/>
          <a:ext cx="10332720" cy="45720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3474720"/>
                <a:gridCol w="1828800"/>
                <a:gridCol w="5029200"/>
              </a:tblGrid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OWASP Risk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84FC"/>
                          </a:solidFill>
                          <a:latin typeface="Calibri"/>
                        </a:defRPr>
                      </a:pPr>
                      <a:r>
                        <a:t>How We Address It</a:t>
                      </a:r>
                    </a:p>
                  </a:txBody>
                  <a:tcPr>
                    <a:solidFill>
                      <a:srgbClr val="1E164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A01: Broken Access Control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Mitigated 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RBAC + ownership checks + token expiry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A02: Cryptographic Failures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Mitigated 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Fernet (AES) + Bcrypt + SHA-256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A03: Injection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Mitigated 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SQLAlchemy ORM parameterized queries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A04: Insecure Design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Mitigated 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Defense-in-depth + threat modeling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A05: Security Misconfiguration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Mitigated 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CSP + HSTS + secure cookie flags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A07: Auth Failures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Mitigated 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Rate limiting + lockout + strong passwords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A08: Data Integrity Failures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Mitigated ✓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SHA-256 verification + HMAC tokens</a:t>
                      </a:r>
                    </a:p>
                  </a:txBody>
                  <a:tcPr>
                    <a:solidFill>
                      <a:srgbClr val="0D1028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A09: Logging Failures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Mitigated ✓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4C0"/>
                          </a:solidFill>
                          <a:latin typeface="Calibri"/>
                        </a:defRPr>
                      </a:pPr>
                      <a:r>
                        <a:t>Comprehensive audit logging system</a:t>
                      </a:r>
                    </a:p>
                  </a:txBody>
                  <a:tcPr>
                    <a:solidFill>
                      <a:srgbClr val="111430"/>
                    </a:solidFill>
                    <a:lnL w="6350">
                      <a:solidFill>
                        <a:srgbClr val="1E1648"/>
                      </a:solidFill>
                    </a:lnL>
                    <a:lnR w="6350">
                      <a:solidFill>
                        <a:srgbClr val="1E1648"/>
                      </a:solidFill>
                    </a:lnR>
                    <a:lnT w="6350">
                      <a:solidFill>
                        <a:srgbClr val="1E1648"/>
                      </a:solidFill>
                    </a:lnT>
                    <a:lnB w="6350">
                      <a:solidFill>
                        <a:srgbClr val="1E16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120640" cy="438912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Calibri"/>
              </a:rPr>
              <a:t>⚠️  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Server has access to plaintext during encryption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Single Fernet key for all users (shared key)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No two-factor authentication (2FA)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No file versioning support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>No client-side (browser) encryption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120640" cy="438912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DE80"/>
                </a:solidFill>
                <a:latin typeface="Calibri"/>
              </a:rPr>
              <a:t>🚀  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End-to-End Encryption</a:t>
            </a:r>
            <a:r>
              <a:rPr sz="1200">
                <a:solidFill>
                  <a:srgbClr val="A0A4C0"/>
                </a:solidFill>
                <a:latin typeface="Calibri"/>
              </a:rPr>
              <a:t> — Web Crypto API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Two-Factor Auth</a:t>
            </a:r>
            <a:r>
              <a:rPr sz="1200">
                <a:solidFill>
                  <a:srgbClr val="A0A4C0"/>
                </a:solidFill>
                <a:latin typeface="Calibri"/>
              </a:rPr>
              <a:t> — TOTP via Google Authenticator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Key Rotation</a:t>
            </a:r>
            <a:r>
              <a:rPr sz="1200">
                <a:solidFill>
                  <a:srgbClr val="A0A4C0"/>
                </a:solidFill>
                <a:latin typeface="Calibri"/>
              </a:rPr>
              <a:t> — Automated periodic re-encryption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Zero-Knowledge</a:t>
            </a:r>
            <a:r>
              <a:rPr sz="1200">
                <a:solidFill>
                  <a:srgbClr val="A0A4C0"/>
                </a:solidFill>
                <a:latin typeface="Calibri"/>
              </a:rPr>
              <a:t> — Client-side key derivation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▸  </a:t>
            </a:r>
            <a:r>
              <a:rPr sz="1200">
                <a:solidFill>
                  <a:srgbClr val="A0A4C0"/>
                </a:solidFill>
                <a:latin typeface="Calibri"/>
              </a:rPr>
              <a:t/>
            </a:r>
            <a:r>
              <a:rPr sz="1200" b="1">
                <a:solidFill>
                  <a:srgbClr val="C084FC"/>
                </a:solidFill>
                <a:latin typeface="Calibri"/>
              </a:rPr>
              <a:t>GDPR/HIPAA</a:t>
            </a:r>
            <a:r>
              <a:rPr sz="1200">
                <a:solidFill>
                  <a:srgbClr val="A0A4C0"/>
                </a:solidFill>
                <a:latin typeface="Calibri"/>
              </a:rPr>
              <a:t> — Compliance and audit features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0F0FF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914400" cy="50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164592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0A4C0"/>
                </a:solidFill>
                <a:latin typeface="Calibri"/>
              </a:rPr>
              <a:t>We designed and deployed a production-ready secure cloud storage system that encrypts files with AES-128-CBC (Fernet) before cloud upload, verifies integrity with SHA-256 on every download, protects credentials with Bcrypt hashing, and controls access through RBAC and HMAC-signed time-limited download tokens. All 10 security tests passed with zero vulnerabilities.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2468880" cy="15544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84FC"/>
                </a:solidFill>
                <a:latin typeface="Calibri"/>
              </a:rPr>
              <a:t>10/10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A4C0"/>
                </a:solidFill>
                <a:latin typeface="Calibri"/>
              </a:rPr>
              <a:t>Security Tests
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429000"/>
            <a:ext cx="2468880" cy="15544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84FC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A4C0"/>
                </a:solidFill>
                <a:latin typeface="Calibri"/>
              </a:rPr>
              <a:t>OWASP Risks
Mitigated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429000"/>
            <a:ext cx="2468880" cy="15544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84FC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A4C0"/>
                </a:solidFill>
                <a:latin typeface="Calibri"/>
              </a:rPr>
              <a:t>Security
Layers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429000"/>
            <a:ext cx="2468880" cy="1554480"/>
          </a:xfrm>
          <a:prstGeom prst="roundRect">
            <a:avLst/>
          </a:prstGeom>
          <a:solidFill>
            <a:srgbClr val="101330"/>
          </a:solidFill>
          <a:ln w="12700">
            <a:solidFill>
              <a:srgbClr val="2A2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84FC"/>
                </a:solidFill>
                <a:latin typeface="Calibri"/>
              </a:rPr>
              <a:t>&lt;90ms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A4C0"/>
                </a:solidFill>
                <a:latin typeface="Calibri"/>
              </a:rPr>
              <a:t>Max Encryption
Overhead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0" y="7315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latin typeface="Segoe UI Emoji"/>
              </a:rPr>
              <a:t>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C084F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91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A0A4C0"/>
                </a:solidFill>
                <a:latin typeface="Calibri"/>
              </a:rPr>
              <a:t>Thank you for your attention!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20624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0F0FF"/>
                </a:solidFill>
                <a:latin typeface="Calibri"/>
              </a:rPr>
              <a:t>Ali Asjad Awan — FA23-BCS-028</a:t>
            </a:r>
          </a:p>
          <a:p>
            <a:pPr algn="ctr"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F0F0FF"/>
                </a:solidFill>
                <a:latin typeface="Calibri"/>
              </a:rPr>
              <a:t>Muhammad Sohaib Liaqat — FA23-BCS-130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0A4C0"/>
                </a:solidFill>
                <a:latin typeface="Calibri"/>
              </a:rPr>
              <a:t>COMSATS University Islamabad  •  Spring 2026</a:t>
            </a:r>
          </a:p>
        </p:txBody>
      </p:sp>
    </p:spTree>
  </p:cSld>
  <p:clrMapOvr>
    <a:masterClrMapping/>
  </p:clrMapOvr>
  <p:transition spd="med" advClick="1">
    <ns0:morph xmlns:ns0="http://schemas.microsoft.com/office/powerpoint/2015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